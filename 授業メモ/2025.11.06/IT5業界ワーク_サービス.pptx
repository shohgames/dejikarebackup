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12"/>
  </p:notesMasterIdLst>
  <p:handoutMasterIdLst>
    <p:handoutMasterId r:id="rId13"/>
  </p:handoutMasterIdLst>
  <p:sldIdLst>
    <p:sldId id="553" r:id="rId7"/>
    <p:sldId id="552" r:id="rId8"/>
    <p:sldId id="551" r:id="rId9"/>
    <p:sldId id="550" r:id="rId10"/>
    <p:sldId id="549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553"/>
            <p14:sldId id="552"/>
            <p14:sldId id="551"/>
            <p14:sldId id="550"/>
            <p14:sldId id="549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32A4A-F55E-4480-8C0E-9EF507E98E73}" v="8" dt="2022-06-15T06:48:46.070"/>
    <p1510:client id="{22C4C6E7-B21E-AEFE-F33A-8E0BBA310AF4}" v="33" dt="2022-06-15T07:30:04.761"/>
    <p1510:client id="{44B3D058-12DB-4A66-A099-DDF1E1DE1D6D}" v="576" dt="2022-06-15T02:59:01.537"/>
    <p1510:client id="{453763B0-3F59-4E95-883F-6B6EF7C04235}" v="125" dt="2022-06-15T02:58:44.194"/>
    <p1510:client id="{5143C82E-CA9B-40D4-BC8C-AEA5B86230BD}" v="225" dt="2022-06-15T07:12:11.023"/>
    <p1510:client id="{57B91D12-BD20-49E6-B55E-4BFB71320375}" v="485" dt="2022-06-15T02:57:01.115"/>
    <p1510:client id="{62988E89-95DD-440C-BBDD-AFA96CF15A69}" v="21" dt="2022-06-15T02:33:21.130"/>
    <p1510:client id="{6373133B-E814-488D-A177-C8463E6B914B}" v="65" dt="2022-06-15T05:29:33.048"/>
    <p1510:client id="{673DA4A2-4C64-7E51-146F-EE08C1DBD11C}" v="665" dt="2022-06-15T04:22:34.365"/>
    <p1510:client id="{6B0BDC4A-1F9E-4C0F-8752-FE0B2E0AF07D}" v="11" dt="2022-06-15T02:03:29.856"/>
    <p1510:client id="{7195B6F9-E9BD-4E90-A4B7-020CF963644B}" v="420" dt="2022-06-15T04:41:11.090"/>
    <p1510:client id="{825A19A7-9E75-4F95-87AF-50EB31997180}" v="103" dt="2022-06-15T07:27:10.572"/>
    <p1510:client id="{87EC6E46-6D8F-4E0E-8632-6043C8782D5C}" v="68" dt="2022-06-15T06:59:21.231"/>
    <p1510:client id="{924CBBBA-2800-461A-9344-741E7AB70CD7}" v="149" dt="2022-06-15T06:08:06.955"/>
    <p1510:client id="{C1E6B8AB-DEFA-4649-A575-FA53E1A00D26}" v="15" dt="2022-06-15T07:29:32.572"/>
    <p1510:client id="{E3F37265-631F-467A-8C93-395E555DFC1A}" v="378" dt="2022-06-15T07:22:39.510"/>
    <p1510:client id="{EDF03E04-5CBA-7E1D-E4B5-7A5A0ABC6732}" v="11" dt="2022-06-15T04:36:24.434"/>
    <p1510:client id="{EF42A20D-1F70-CF57-8AC3-13BCE5ED8A57}" v="2261" dt="2022-06-15T07:28:15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09/09/2022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09/09/2022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26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92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94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4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>
              <a:ea typeface="ＭＳ Ｐ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69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77899" y="384880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ハードウェア業界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80674" y="1280311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770EABE-765E-800A-4A97-94EF19F22288}"/>
              </a:ext>
            </a:extLst>
          </p:cNvPr>
          <p:cNvGrpSpPr/>
          <p:nvPr/>
        </p:nvGrpSpPr>
        <p:grpSpPr>
          <a:xfrm>
            <a:off x="1445734" y="1837630"/>
            <a:ext cx="4402117" cy="4308415"/>
            <a:chOff x="1633882" y="1837631"/>
            <a:chExt cx="4368298" cy="2005746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1633882" y="2505726"/>
              <a:ext cx="4368298" cy="1337651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1633882" y="1837631"/>
              <a:ext cx="4368298" cy="65615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汎用コンピューター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プログラムを変更可＝様々な使い道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周辺機器が豊富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3C1FAD3-5073-1EC3-421A-C7B8FF3A11A7}"/>
              </a:ext>
            </a:extLst>
          </p:cNvPr>
          <p:cNvGrpSpPr/>
          <p:nvPr/>
        </p:nvGrpSpPr>
        <p:grpSpPr>
          <a:xfrm>
            <a:off x="6099780" y="1837631"/>
            <a:ext cx="4393185" cy="4308416"/>
            <a:chOff x="1633260" y="1837631"/>
            <a:chExt cx="4378534" cy="2059714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26B391A-FAB0-7719-51CC-821BEBED16EC}"/>
                </a:ext>
              </a:extLst>
            </p:cNvPr>
            <p:cNvSpPr/>
            <p:nvPr/>
          </p:nvSpPr>
          <p:spPr>
            <a:xfrm>
              <a:off x="1633260" y="2519528"/>
              <a:ext cx="4368920" cy="1377817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  <a:cs typeface="+mn-lt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2E0DD83-C135-A4E2-9DAF-AE0627D3A24C}"/>
                </a:ext>
              </a:extLst>
            </p:cNvPr>
            <p:cNvSpPr txBox="1"/>
            <p:nvPr/>
          </p:nvSpPr>
          <p:spPr>
            <a:xfrm>
              <a:off x="1633498" y="1837631"/>
              <a:ext cx="4378296" cy="668904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専用コンピューター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プログラムを変更不可＝特定用途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別名：組み込みシステム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711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ソフトウェア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64166" y="1279238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C8F861C-1E1E-51C7-E292-0EDF08C8D74F}"/>
              </a:ext>
            </a:extLst>
          </p:cNvPr>
          <p:cNvGrpSpPr/>
          <p:nvPr/>
        </p:nvGrpSpPr>
        <p:grpSpPr>
          <a:xfrm>
            <a:off x="819873" y="1874285"/>
            <a:ext cx="10549560" cy="4065119"/>
            <a:chOff x="1176650" y="1874285"/>
            <a:chExt cx="10549560" cy="4065119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D24E3B61-C472-405E-1C60-3DA2E78197F3}"/>
                </a:ext>
              </a:extLst>
            </p:cNvPr>
            <p:cNvGrpSpPr/>
            <p:nvPr/>
          </p:nvGrpSpPr>
          <p:grpSpPr>
            <a:xfrm>
              <a:off x="1176650" y="1876214"/>
              <a:ext cx="3495685" cy="4061107"/>
              <a:chOff x="540043" y="1837631"/>
              <a:chExt cx="3157702" cy="1982602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540043" y="2267098"/>
                <a:ext cx="3157702" cy="1553135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  <a:p>
                <a:endParaRPr lang="ja-JP" altLang="en-US" sz="24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540043" y="1837631"/>
                <a:ext cx="3157702" cy="414176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2800" b="1">
                    <a:solidFill>
                      <a:schemeClr val="bg2"/>
                    </a:solidFill>
                    <a:latin typeface="Meiryo UI"/>
                    <a:ea typeface="Meiryo UI"/>
                  </a:rPr>
                  <a:t>OS</a:t>
                </a:r>
              </a:p>
              <a:p>
                <a:pPr algn="ctr"/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0D5F167-C85A-AC43-B24D-FF6614E72DF5}"/>
                </a:ext>
              </a:extLst>
            </p:cNvPr>
            <p:cNvGrpSpPr/>
            <p:nvPr/>
          </p:nvGrpSpPr>
          <p:grpSpPr>
            <a:xfrm>
              <a:off x="8329822" y="4395133"/>
              <a:ext cx="3390862" cy="1544270"/>
              <a:chOff x="4245786" y="4582030"/>
              <a:chExt cx="3194573" cy="1547638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E72EAACE-A3B2-42F4-9448-556DD85BD0EC}"/>
                  </a:ext>
                </a:extLst>
              </p:cNvPr>
              <p:cNvSpPr/>
              <p:nvPr/>
            </p:nvSpPr>
            <p:spPr>
              <a:xfrm>
                <a:off x="4245786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en-US" altLang="ja-JP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FB2185C-9F85-4AEC-9013-7B5A46ED4D4F}"/>
                  </a:ext>
                </a:extLst>
              </p:cNvPr>
              <p:cNvSpPr txBox="1"/>
              <p:nvPr/>
            </p:nvSpPr>
            <p:spPr>
              <a:xfrm>
                <a:off x="4245786" y="4582030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エンタメ</a:t>
                </a: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9AEBAC3C-3B10-0533-F4DA-D1776DBD0C35}"/>
                </a:ext>
              </a:extLst>
            </p:cNvPr>
            <p:cNvGrpSpPr/>
            <p:nvPr/>
          </p:nvGrpSpPr>
          <p:grpSpPr>
            <a:xfrm>
              <a:off x="4872803" y="2770119"/>
              <a:ext cx="3390862" cy="1563975"/>
              <a:chOff x="4255487" y="2327515"/>
              <a:chExt cx="3194573" cy="1567463"/>
            </a:xfrm>
          </p:grpSpPr>
          <p:sp>
            <p:nvSpPr>
              <p:cNvPr id="23" name="四角形: 角を丸くする 22">
                <a:extLst>
                  <a:ext uri="{FF2B5EF4-FFF2-40B4-BE49-F238E27FC236}">
                    <a16:creationId xmlns:a16="http://schemas.microsoft.com/office/drawing/2014/main" id="{9A3CBB3E-AC6B-45D7-ADDF-88E42B43CD6D}"/>
                  </a:ext>
                </a:extLst>
              </p:cNvPr>
              <p:cNvSpPr/>
              <p:nvPr/>
            </p:nvSpPr>
            <p:spPr>
              <a:xfrm>
                <a:off x="4255487" y="281497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9606ED4-4738-4E6B-B884-6327E91CF8A6}"/>
                  </a:ext>
                </a:extLst>
              </p:cNvPr>
              <p:cNvSpPr txBox="1"/>
              <p:nvPr/>
            </p:nvSpPr>
            <p:spPr>
              <a:xfrm>
                <a:off x="4255487" y="2327515"/>
                <a:ext cx="3194573" cy="4553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文書・作成・閲覧</a:t>
                </a: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597D075-18B8-D7CB-F2DD-FE2058349CC2}"/>
                </a:ext>
              </a:extLst>
            </p:cNvPr>
            <p:cNvGrpSpPr/>
            <p:nvPr/>
          </p:nvGrpSpPr>
          <p:grpSpPr>
            <a:xfrm>
              <a:off x="4876275" y="4395133"/>
              <a:ext cx="3400104" cy="1544271"/>
              <a:chOff x="540043" y="4582029"/>
              <a:chExt cx="3194573" cy="1547639"/>
            </a:xfrm>
          </p:grpSpPr>
          <p:sp>
            <p:nvSpPr>
              <p:cNvPr id="27" name="四角形: 角を丸くする 26">
                <a:extLst>
                  <a:ext uri="{FF2B5EF4-FFF2-40B4-BE49-F238E27FC236}">
                    <a16:creationId xmlns:a16="http://schemas.microsoft.com/office/drawing/2014/main" id="{3C96CBE6-BDB0-468A-900A-18EBEB36C5EC}"/>
                  </a:ext>
                </a:extLst>
              </p:cNvPr>
              <p:cNvSpPr/>
              <p:nvPr/>
            </p:nvSpPr>
            <p:spPr>
              <a:xfrm>
                <a:off x="540043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B802973-E133-4BC6-8B24-A57D073390FE}"/>
                  </a:ext>
                </a:extLst>
              </p:cNvPr>
              <p:cNvSpPr txBox="1"/>
              <p:nvPr/>
            </p:nvSpPr>
            <p:spPr>
              <a:xfrm>
                <a:off x="540043" y="4582029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コミュニケーション</a:t>
                </a: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07500AE-9AD9-2B4D-45E9-6A19064A1B00}"/>
                </a:ext>
              </a:extLst>
            </p:cNvPr>
            <p:cNvGrpSpPr/>
            <p:nvPr/>
          </p:nvGrpSpPr>
          <p:grpSpPr>
            <a:xfrm>
              <a:off x="8335348" y="2770966"/>
              <a:ext cx="3390862" cy="1554439"/>
              <a:chOff x="7942584" y="2311425"/>
              <a:chExt cx="3194573" cy="1565363"/>
            </a:xfrm>
          </p:grpSpPr>
          <p:sp>
            <p:nvSpPr>
              <p:cNvPr id="26" name="四角形: 角を丸くする 25">
                <a:extLst>
                  <a:ext uri="{FF2B5EF4-FFF2-40B4-BE49-F238E27FC236}">
                    <a16:creationId xmlns:a16="http://schemas.microsoft.com/office/drawing/2014/main" id="{8CFE46B0-62FE-8A40-5777-B3FF9134ED52}"/>
                  </a:ext>
                </a:extLst>
              </p:cNvPr>
              <p:cNvSpPr/>
              <p:nvPr/>
            </p:nvSpPr>
            <p:spPr>
              <a:xfrm>
                <a:off x="7942584" y="279678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0BF8D095-1E55-6103-C49F-9D586A2C8780}"/>
                  </a:ext>
                </a:extLst>
              </p:cNvPr>
              <p:cNvSpPr txBox="1"/>
              <p:nvPr/>
            </p:nvSpPr>
            <p:spPr>
              <a:xfrm>
                <a:off x="7942584" y="2311425"/>
                <a:ext cx="3194573" cy="4629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ブラウザ</a:t>
                </a: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8EE46D2-A8FA-6BFC-A534-23EA47D491FF}"/>
                </a:ext>
              </a:extLst>
            </p:cNvPr>
            <p:cNvSpPr txBox="1"/>
            <p:nvPr/>
          </p:nvSpPr>
          <p:spPr>
            <a:xfrm>
              <a:off x="4868974" y="1874285"/>
              <a:ext cx="6841394" cy="848386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800" b="1">
                  <a:solidFill>
                    <a:schemeClr val="bg2"/>
                  </a:solidFill>
                  <a:latin typeface="Meiryo UI"/>
                  <a:ea typeface="Meiryo UI"/>
                </a:rPr>
                <a:t>アプリケーション</a:t>
              </a:r>
              <a:endParaRPr lang="ja-JP" altLang="en-US" sz="28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500" b="1">
                  <a:solidFill>
                    <a:schemeClr val="bg2"/>
                  </a:solidFill>
                  <a:latin typeface="Meiryo UI"/>
                  <a:ea typeface="Meiryo UI"/>
                </a:rPr>
                <a:t>様々な用途に合わせて提供され、OS上で動作させるソフトウェア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010F21-8BAE-A70C-89F6-60A34141BF76}"/>
              </a:ext>
            </a:extLst>
          </p:cNvPr>
          <p:cNvSpPr txBox="1"/>
          <p:nvPr/>
        </p:nvSpPr>
        <p:spPr>
          <a:xfrm>
            <a:off x="302209" y="2341835"/>
            <a:ext cx="457611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1500" b="1">
                <a:solidFill>
                  <a:schemeClr val="bg2"/>
                </a:solidFill>
                <a:latin typeface="Meiryo UI"/>
                <a:ea typeface="Meiryo UI"/>
              </a:rPr>
              <a:t>ハードウェア上で動作する基本ソフトウェア</a:t>
            </a:r>
            <a:endParaRPr lang="ja-JP" sz="1500">
              <a:solidFill>
                <a:schemeClr val="bg2"/>
              </a:solidFill>
              <a:ea typeface="+mn-lt"/>
              <a:cs typeface="+mn-lt"/>
            </a:endParaRPr>
          </a:p>
          <a:p>
            <a:pPr algn="l"/>
            <a:endParaRPr lang="ja-JP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81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インタ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ー</a:t>
            </a: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ネット・</a:t>
            </a:r>
            <a:r>
              <a:rPr lang="en-US" altLang="ja-JP" b="1">
                <a:solidFill>
                  <a:schemeClr val="bg2"/>
                </a:solidFill>
                <a:latin typeface="Meiryo UI"/>
                <a:ea typeface="+mj-lt"/>
              </a:rPr>
              <a:t>Web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24E3B61-C472-405E-1C60-3DA2E78197F3}"/>
              </a:ext>
            </a:extLst>
          </p:cNvPr>
          <p:cNvGrpSpPr/>
          <p:nvPr/>
        </p:nvGrpSpPr>
        <p:grpSpPr>
          <a:xfrm>
            <a:off x="1638464" y="1876213"/>
            <a:ext cx="4210632" cy="1987311"/>
            <a:chOff x="540043" y="1837631"/>
            <a:chExt cx="3157702" cy="1987311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540043" y="2887498"/>
              <a:ext cx="3157702" cy="937444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540043" y="1837631"/>
              <a:ext cx="3157702" cy="978429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ポータル系</a:t>
              </a:r>
              <a:endParaRPr lang="ja-JP" altLang="en-US" sz="24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検索エンジンを提供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広告収入を主軸としたビジネスモデル</a:t>
              </a:r>
              <a:endParaRPr lang="ja-JP" altLang="en-US" sz="16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5F167-C85A-AC43-B24D-FF6614E72DF5}"/>
              </a:ext>
            </a:extLst>
          </p:cNvPr>
          <p:cNvGrpSpPr/>
          <p:nvPr/>
        </p:nvGrpSpPr>
        <p:grpSpPr>
          <a:xfrm>
            <a:off x="6154017" y="4146389"/>
            <a:ext cx="4171351" cy="1961177"/>
            <a:chOff x="4255487" y="4134099"/>
            <a:chExt cx="3194573" cy="1961177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E72EAACE-A3B2-42F4-9448-556DD85BD0EC}"/>
                </a:ext>
              </a:extLst>
            </p:cNvPr>
            <p:cNvSpPr/>
            <p:nvPr/>
          </p:nvSpPr>
          <p:spPr>
            <a:xfrm>
              <a:off x="4255487" y="5205453"/>
              <a:ext cx="3194573" cy="88982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en-US" altLang="ja-JP" sz="20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FB2185C-9F85-4AEC-9013-7B5A46ED4D4F}"/>
                </a:ext>
              </a:extLst>
            </p:cNvPr>
            <p:cNvSpPr txBox="1"/>
            <p:nvPr/>
          </p:nvSpPr>
          <p:spPr>
            <a:xfrm>
              <a:off x="4255487" y="4134099"/>
              <a:ext cx="3194573" cy="100157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動画サービス系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動画配信プラットフォーム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サブスクリプション​や広告収入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AEBAC3C-3B10-0533-F4DA-D1776DBD0C35}"/>
              </a:ext>
            </a:extLst>
          </p:cNvPr>
          <p:cNvGrpSpPr/>
          <p:nvPr/>
        </p:nvGrpSpPr>
        <p:grpSpPr>
          <a:xfrm>
            <a:off x="6155663" y="1876213"/>
            <a:ext cx="4171351" cy="2005745"/>
            <a:chOff x="4255487" y="1837631"/>
            <a:chExt cx="3194573" cy="2005745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9A3CBB3E-AC6B-45D7-ADDF-88E42B43CD6D}"/>
                </a:ext>
              </a:extLst>
            </p:cNvPr>
            <p:cNvSpPr/>
            <p:nvPr/>
          </p:nvSpPr>
          <p:spPr>
            <a:xfrm>
              <a:off x="4255487" y="2887497"/>
              <a:ext cx="3194573" cy="955879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9606ED4-4738-4E6B-B884-6327E91CF8A6}"/>
                </a:ext>
              </a:extLst>
            </p:cNvPr>
            <p:cNvSpPr txBox="1"/>
            <p:nvPr/>
          </p:nvSpPr>
          <p:spPr>
            <a:xfrm>
              <a:off x="4255487" y="1837631"/>
              <a:ext cx="3194573" cy="978428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ショッピングサイト(EC)系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ネットを通じてモノやサービス提供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複合的にサービス展開する企業が多い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597D075-18B8-D7CB-F2DD-FE2058349CC2}"/>
              </a:ext>
            </a:extLst>
          </p:cNvPr>
          <p:cNvGrpSpPr/>
          <p:nvPr/>
        </p:nvGrpSpPr>
        <p:grpSpPr>
          <a:xfrm>
            <a:off x="1638463" y="4146390"/>
            <a:ext cx="4231757" cy="1995569"/>
            <a:chOff x="540043" y="4134099"/>
            <a:chExt cx="3194573" cy="1995569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3C96CBE6-BDB0-468A-900A-18EBEB36C5EC}"/>
                </a:ext>
              </a:extLst>
            </p:cNvPr>
            <p:cNvSpPr/>
            <p:nvPr/>
          </p:nvSpPr>
          <p:spPr>
            <a:xfrm>
              <a:off x="540043" y="5135672"/>
              <a:ext cx="3194573" cy="993996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B802973-E133-4BC6-8B24-A57D073390FE}"/>
                </a:ext>
              </a:extLst>
            </p:cNvPr>
            <p:cNvSpPr txBox="1"/>
            <p:nvPr/>
          </p:nvSpPr>
          <p:spPr>
            <a:xfrm>
              <a:off x="540043" y="4134099"/>
              <a:ext cx="3194573" cy="1001573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SNS系</a:t>
              </a:r>
              <a:endParaRPr lang="ja-JP" altLang="en-US" sz="24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人と人を結ぶプラットフォームを提供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広告収入を主軸とする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535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通信インフラ</a:t>
            </a:r>
            <a:r>
              <a:rPr kumimoji="0" lang="ja-JP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業界</a:t>
            </a:r>
            <a:endParaRPr lang="ja-JP" altLang="en-US" sz="44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39462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主な企業やサービス</a:t>
            </a: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 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BC31F1-1488-423A-A307-1C473E666CAC}"/>
              </a:ext>
            </a:extLst>
          </p:cNvPr>
          <p:cNvSpPr/>
          <p:nvPr/>
        </p:nvSpPr>
        <p:spPr>
          <a:xfrm>
            <a:off x="1633882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ja-JP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BB139-843C-427F-B30E-D5492BD26ADF}"/>
              </a:ext>
            </a:extLst>
          </p:cNvPr>
          <p:cNvSpPr txBox="1"/>
          <p:nvPr/>
        </p:nvSpPr>
        <p:spPr>
          <a:xfrm>
            <a:off x="1633882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固定通信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光回線網、</a:t>
            </a:r>
            <a:r>
              <a:rPr kumimoji="1" lang="en-US" alt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CATV</a:t>
            </a:r>
            <a:r>
              <a:rPr kumimoji="1" lang="ja-JP" altLang="en-US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網など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72EAACE-A3B2-42F4-9448-556DD85BD0EC}"/>
              </a:ext>
            </a:extLst>
          </p:cNvPr>
          <p:cNvSpPr/>
          <p:nvPr/>
        </p:nvSpPr>
        <p:spPr>
          <a:xfrm>
            <a:off x="6338697" y="5049668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sz="2000" b="1">
              <a:solidFill>
                <a:schemeClr val="bg2"/>
              </a:solidFill>
              <a:latin typeface="Meiryo UI"/>
              <a:ea typeface="Meiryo UI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A3CBB3E-AC6B-45D7-ADDF-88E42B43CD6D}"/>
              </a:ext>
            </a:extLst>
          </p:cNvPr>
          <p:cNvSpPr/>
          <p:nvPr/>
        </p:nvSpPr>
        <p:spPr>
          <a:xfrm>
            <a:off x="6338697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9606ED4-4738-4E6B-B884-6327E91CF8A6}"/>
              </a:ext>
            </a:extLst>
          </p:cNvPr>
          <p:cNvSpPr txBox="1"/>
          <p:nvPr/>
        </p:nvSpPr>
        <p:spPr>
          <a:xfrm>
            <a:off x="6338697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移動通信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スマホ等、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いわゆるモバイル通信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C96CBE6-BDB0-468A-900A-18EBEB36C5EC}"/>
              </a:ext>
            </a:extLst>
          </p:cNvPr>
          <p:cNvSpPr/>
          <p:nvPr/>
        </p:nvSpPr>
        <p:spPr>
          <a:xfrm>
            <a:off x="1633882" y="5060301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802973-E133-4BC6-8B24-A57D073390FE}"/>
              </a:ext>
            </a:extLst>
          </p:cNvPr>
          <p:cNvSpPr txBox="1"/>
          <p:nvPr/>
        </p:nvSpPr>
        <p:spPr>
          <a:xfrm>
            <a:off x="1633882" y="4134100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kumimoji="1" lang="ja-JP" altLang="en-US" sz="3000" b="1">
                <a:solidFill>
                  <a:schemeClr val="bg2"/>
                </a:solidFill>
                <a:latin typeface="Meiryo UI"/>
                <a:ea typeface="Meiryo UI"/>
              </a:rPr>
              <a:t>インターネット接続</a:t>
            </a:r>
            <a:endParaRPr kumimoji="1" lang="en-US" altLang="ja-JP" sz="3000" b="1">
              <a:solidFill>
                <a:schemeClr val="bg2"/>
              </a:solidFill>
              <a:latin typeface="Meiryo UI"/>
              <a:ea typeface="Meiryo UI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altLang="ja-JP" b="1">
                <a:solidFill>
                  <a:schemeClr val="bg2"/>
                </a:solidFill>
                <a:latin typeface="Roboto"/>
                <a:ea typeface="Roboto"/>
              </a:rPr>
              <a:t>あ</a:t>
            </a:r>
            <a:endParaRPr lang="en-US" altLang="ja-JP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Roboto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DC3BDC-5D45-7A2E-ED02-978665435F74}"/>
              </a:ext>
            </a:extLst>
          </p:cNvPr>
          <p:cNvSpPr txBox="1"/>
          <p:nvPr/>
        </p:nvSpPr>
        <p:spPr>
          <a:xfrm>
            <a:off x="6334781" y="4134099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000" b="1" err="1">
                <a:solidFill>
                  <a:schemeClr val="bg2"/>
                </a:solidFill>
                <a:latin typeface="Meiryo UI"/>
                <a:ea typeface="Meiryo UI"/>
              </a:rPr>
              <a:t>グローバル接続</a:t>
            </a:r>
            <a:endParaRPr lang="en-US" altLang="ja-JP" sz="3000" b="1" i="0" u="none" strike="noStrike" kern="1200" cap="none" spc="0" normalizeH="0" baseline="0" noProof="0" err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世界をつなぐ、海底ケーブルや衛星通信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ECA4B7-CC94-F0F5-DF3F-05568727D562}"/>
              </a:ext>
            </a:extLst>
          </p:cNvPr>
          <p:cNvSpPr txBox="1"/>
          <p:nvPr/>
        </p:nvSpPr>
        <p:spPr>
          <a:xfrm>
            <a:off x="1680723" y="4648234"/>
            <a:ext cx="561175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7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企業や個人にインターネットを提供/プロバイダ</a:t>
            </a:r>
          </a:p>
        </p:txBody>
      </p:sp>
    </p:spTree>
    <p:extLst>
      <p:ext uri="{BB962C8B-B14F-4D97-AF65-F5344CB8AC3E}">
        <p14:creationId xmlns:p14="http://schemas.microsoft.com/office/powerpoint/2010/main" val="62367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情報処理サービス業界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4F0D021-4136-E69A-F3E6-DB9F2B918D0C}"/>
              </a:ext>
            </a:extLst>
          </p:cNvPr>
          <p:cNvGrpSpPr/>
          <p:nvPr/>
        </p:nvGrpSpPr>
        <p:grpSpPr>
          <a:xfrm>
            <a:off x="1979291" y="1712240"/>
            <a:ext cx="8243206" cy="2111848"/>
            <a:chOff x="1961171" y="1712240"/>
            <a:chExt cx="8226525" cy="211184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6C7B1899-2251-7CAE-87D4-316EF23E8098}"/>
                </a:ext>
              </a:extLst>
            </p:cNvPr>
            <p:cNvGrpSpPr/>
            <p:nvPr/>
          </p:nvGrpSpPr>
          <p:grpSpPr>
            <a:xfrm>
              <a:off x="1961171" y="1712240"/>
              <a:ext cx="8226525" cy="2111848"/>
              <a:chOff x="1638653" y="1837631"/>
              <a:chExt cx="4368298" cy="1969760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1638998" y="2880331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  <a:cs typeface="+mn-lt"/>
                  </a:rPr>
                  <a:t>　</a:t>
                </a:r>
                <a:endParaRPr lang="en-US" altLang="ja-JP" sz="2000" b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1638653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メーカー系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PCを販売する企業の</a:t>
                </a:r>
                <a:r>
                  <a:rPr kumimoji="1" lang="en-US" altLang="ja-JP" b="1">
                    <a:solidFill>
                      <a:schemeClr val="bg2"/>
                    </a:solidFill>
                    <a:latin typeface="Meiryo UI"/>
                    <a:ea typeface="Meiryo UI"/>
                  </a:rPr>
                  <a:t>IT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部門が独立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A5F8EF7-DDE0-3A4B-C799-3B64A02A44AF}"/>
                </a:ext>
              </a:extLst>
            </p:cNvPr>
            <p:cNvSpPr txBox="1"/>
            <p:nvPr/>
          </p:nvSpPr>
          <p:spPr>
            <a:xfrm>
              <a:off x="1961171" y="2320732"/>
              <a:ext cx="4115950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88A26B2-85D9-00B2-2CF5-737A6AC4542F}"/>
                </a:ext>
              </a:extLst>
            </p:cNvPr>
            <p:cNvSpPr txBox="1"/>
            <p:nvPr/>
          </p:nvSpPr>
          <p:spPr>
            <a:xfrm>
              <a:off x="6058974" y="2320731"/>
              <a:ext cx="4127159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6605A0EA-2C21-06AB-F750-AC8589FE07F4}"/>
                </a:ext>
              </a:extLst>
            </p:cNvPr>
            <p:cNvSpPr/>
            <p:nvPr/>
          </p:nvSpPr>
          <p:spPr>
            <a:xfrm>
              <a:off x="606890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0E7DFAE-E3D0-83E2-DF8D-D296E37A6A8C}"/>
              </a:ext>
            </a:extLst>
          </p:cNvPr>
          <p:cNvGrpSpPr/>
          <p:nvPr/>
        </p:nvGrpSpPr>
        <p:grpSpPr>
          <a:xfrm>
            <a:off x="1979290" y="4036822"/>
            <a:ext cx="8228749" cy="2111849"/>
            <a:chOff x="1959608" y="1712240"/>
            <a:chExt cx="8228749" cy="2111849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FE0BA56-9093-B019-2B4B-DC3CBF2E57CF}"/>
                </a:ext>
              </a:extLst>
            </p:cNvPr>
            <p:cNvGrpSpPr/>
            <p:nvPr/>
          </p:nvGrpSpPr>
          <p:grpSpPr>
            <a:xfrm>
              <a:off x="1961832" y="1712240"/>
              <a:ext cx="8226525" cy="2111849"/>
              <a:chOff x="1639004" y="1837631"/>
              <a:chExt cx="4368298" cy="1969761"/>
            </a:xfrm>
          </p:grpSpPr>
          <p:sp>
            <p:nvSpPr>
              <p:cNvPr id="30" name="四角形: 角を丸くする 29">
                <a:extLst>
                  <a:ext uri="{FF2B5EF4-FFF2-40B4-BE49-F238E27FC236}">
                    <a16:creationId xmlns:a16="http://schemas.microsoft.com/office/drawing/2014/main" id="{2D821415-CDC1-9A05-0600-18AB4F28D279}"/>
                  </a:ext>
                </a:extLst>
              </p:cNvPr>
              <p:cNvSpPr/>
              <p:nvPr/>
            </p:nvSpPr>
            <p:spPr>
              <a:xfrm>
                <a:off x="1639004" y="2880332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96EE67-7AFE-C870-1F0D-EB993442046C}"/>
                  </a:ext>
                </a:extLst>
              </p:cNvPr>
              <p:cNvSpPr txBox="1"/>
              <p:nvPr/>
            </p:nvSpPr>
            <p:spPr>
              <a:xfrm>
                <a:off x="1639004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独立系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独自路線の企業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A3898F8-D630-130F-35CA-3A68168B3647}"/>
                </a:ext>
              </a:extLst>
            </p:cNvPr>
            <p:cNvSpPr txBox="1"/>
            <p:nvPr/>
          </p:nvSpPr>
          <p:spPr>
            <a:xfrm>
              <a:off x="1959608" y="2330378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DD2D652-863B-895C-6714-FE28A08BA067}"/>
                </a:ext>
              </a:extLst>
            </p:cNvPr>
            <p:cNvSpPr txBox="1"/>
            <p:nvPr/>
          </p:nvSpPr>
          <p:spPr>
            <a:xfrm>
              <a:off x="6068620" y="2330377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570B573C-2853-8E91-C107-5F80AD3A796E}"/>
                </a:ext>
              </a:extLst>
            </p:cNvPr>
            <p:cNvSpPr/>
            <p:nvPr/>
          </p:nvSpPr>
          <p:spPr>
            <a:xfrm>
              <a:off x="606891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673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230</Words>
  <Application>Microsoft Office PowerPoint</Application>
  <PresentationFormat>ワイド画面</PresentationFormat>
  <Paragraphs>64</Paragraphs>
  <Slides>5</Slides>
  <Notes>5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6" baseType="lpstr">
      <vt:lpstr>Meiryo UI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Hitoshi Ootsuka</cp:lastModifiedBy>
  <cp:revision>4</cp:revision>
  <dcterms:created xsi:type="dcterms:W3CDTF">2017-09-27T07:46:16Z</dcterms:created>
  <dcterms:modified xsi:type="dcterms:W3CDTF">2022-09-09T03:56:58Z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